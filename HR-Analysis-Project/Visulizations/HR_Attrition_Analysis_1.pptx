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3.png"/><Relationship Id="rId6" Type="http://schemas.openxmlformats.org/officeDocument/2006/relationships/image" Target="../media/image-4-6.png"/><Relationship Id="rId7" Type="http://schemas.openxmlformats.org/officeDocument/2006/relationships/image" Target="../media/image-4-3.png"/><Relationship Id="rId8" Type="http://schemas.openxmlformats.org/officeDocument/2006/relationships/image" Target="../media/image-4-8.png"/><Relationship Id="rId9" Type="http://schemas.openxmlformats.org/officeDocument/2006/relationships/image" Target="../media/image-4-3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  ·   WHY PEOPLE LEAVE THEIR JOBS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8778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Employees</a:t>
            </a:r>
            <a:endParaRPr lang="en-US" sz="6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85800" y="3977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 at why people quit — and what the company can do to keep them.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4892040"/>
            <a:ext cx="2445106" cy="457200"/>
          </a:xfrm>
          <a:prstGeom prst="roundRect">
            <a:avLst>
              <a:gd name="adj" fmla="val 20000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892040"/>
            <a:ext cx="2445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1,406 employees studied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2074" y="4892040"/>
            <a:ext cx="1997050" cy="457200"/>
          </a:xfrm>
          <a:prstGeom prst="roundRect">
            <a:avLst>
              <a:gd name="adj" fmla="val 20000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2074" y="4892040"/>
            <a:ext cx="1997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reasons explored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30291" y="4892040"/>
            <a:ext cx="2086661" cy="457200"/>
          </a:xfrm>
          <a:prstGeom prst="roundRect">
            <a:avLst>
              <a:gd name="adj" fmla="val 20000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30291" y="4892040"/>
            <a:ext cx="20866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new warning signs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IBM’s HR data   ·   Built with Python — pandas · seaborn · scikit-learn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in this deck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298448"/>
          </a:xfrm>
          <a:prstGeom prst="roundRect">
            <a:avLst>
              <a:gd name="adj" fmla="val 8451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713232" cy="713232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6" name="Image 0" descr="assets/icons/targ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" y="2436876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37760" y="21122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949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810512" y="22219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810512" y="264261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people costs real money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1965960"/>
            <a:ext cx="5257800" cy="1298448"/>
          </a:xfrm>
          <a:prstGeom prst="roundRect">
            <a:avLst>
              <a:gd name="adj" fmla="val 8451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258568"/>
            <a:ext cx="713232" cy="713232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12" name="Image 1" descr="assets/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88" y="2436876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07040" y="21122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949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7479792" y="22219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data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479792" y="264261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file ready to analyze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3575304"/>
            <a:ext cx="5257800" cy="1298448"/>
          </a:xfrm>
          <a:prstGeom prst="roundRect">
            <a:avLst>
              <a:gd name="adj" fmla="val 8451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3867912"/>
            <a:ext cx="713232" cy="713232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18" name="Image 2" descr="assets/icons/filt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" y="4046220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37760" y="37216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949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1810512" y="38313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the data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810512" y="42519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sure the numbers are reliable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309360" y="3575304"/>
            <a:ext cx="5257800" cy="1298448"/>
          </a:xfrm>
          <a:prstGeom prst="roundRect">
            <a:avLst>
              <a:gd name="adj" fmla="val 8451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0" y="3867912"/>
            <a:ext cx="713232" cy="713232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24" name="Image 3" descr="assets/icons/bar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1988" y="4046220"/>
            <a:ext cx="356616" cy="3566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607040" y="37216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949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7479792" y="38313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479792" y="42519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clear reasons people leave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640080" y="5184648"/>
            <a:ext cx="5257800" cy="1298448"/>
          </a:xfrm>
          <a:prstGeom prst="roundRect">
            <a:avLst>
              <a:gd name="adj" fmla="val 8451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14400" y="5477256"/>
            <a:ext cx="713232" cy="713232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30" name="Image 4" descr="assets/icons/slider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" y="5655564"/>
            <a:ext cx="356616" cy="35661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937760" y="53309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949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2" name="Text 25"/>
          <p:cNvSpPr/>
          <p:nvPr/>
        </p:nvSpPr>
        <p:spPr>
          <a:xfrm>
            <a:off x="1810512" y="54406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warning signs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1810512" y="586130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clues to spot risk early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6309360" y="5184648"/>
            <a:ext cx="5257800" cy="1298448"/>
          </a:xfrm>
          <a:prstGeom prst="roundRect">
            <a:avLst>
              <a:gd name="adj" fmla="val 8451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583680" y="5477256"/>
            <a:ext cx="713232" cy="713232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36" name="Image 5" descr="assets/icons/compass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1988" y="5655564"/>
            <a:ext cx="356616" cy="35661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607040" y="533095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949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8" name="Text 30"/>
          <p:cNvSpPr/>
          <p:nvPr/>
        </p:nvSpPr>
        <p:spPr>
          <a:xfrm>
            <a:off x="7479792" y="54406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7479792" y="586130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steps to keep more people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Losing employees is expensive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and more people at IBM have been quitting, and HR wants to understand why.</a:t>
            </a:r>
            <a:endParaRPr lang="en-US" sz="15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who leaves is costly — hiring and training a replacement, losing their know-how, and piling pressure on those who stay.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8580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wanted to find out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4389120"/>
            <a:ext cx="457200" cy="457200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7" name="Image 0" descr="assets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" y="450342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44074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people leave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13232" y="4992624"/>
            <a:ext cx="457200" cy="457200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10" name="Image 1" descr="assets/icons/briefc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5106924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501091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which jobs lose the most people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13232" y="5596128"/>
            <a:ext cx="457200" cy="457200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13" name="Image 2" descr="assets/icons/compas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" y="5710428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561441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simple ways to keep more of them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903720" y="2011680"/>
            <a:ext cx="4663440" cy="3566160"/>
          </a:xfrm>
          <a:prstGeom prst="roundRect">
            <a:avLst>
              <a:gd name="adj" fmla="val 3077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269480" y="2423160"/>
            <a:ext cx="822960" cy="822960"/>
          </a:xfrm>
          <a:prstGeom prst="ellipse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17" name="Image 3" descr="assets/icons/trenddow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5220" y="26289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23760" y="34290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16%</a:t>
            </a:r>
            <a:endParaRPr lang="en-US" sz="8200" dirty="0"/>
          </a:p>
        </p:txBody>
      </p:sp>
      <p:sp>
        <p:nvSpPr>
          <p:cNvPr id="19" name="Text 13"/>
          <p:cNvSpPr/>
          <p:nvPr/>
        </p:nvSpPr>
        <p:spPr>
          <a:xfrm>
            <a:off x="7269480" y="4526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left the company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269480" y="49377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about 1 in every 6 people — and it keeps happening.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PREPARING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got the data ready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1993392" cy="3017520"/>
          </a:xfrm>
          <a:prstGeom prst="roundRect">
            <a:avLst>
              <a:gd name="adj" fmla="val 5505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4688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949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33272" y="2944368"/>
            <a:ext cx="841248" cy="841248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7" name="Image 0" descr="assets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3154680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95020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it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1792" y="438912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data and see what’s inside</a:t>
            </a:r>
            <a:endParaRPr lang="en-US" sz="1150" dirty="0"/>
          </a:p>
        </p:txBody>
      </p:sp>
      <p:pic>
        <p:nvPicPr>
          <p:cNvPr id="10" name="Image 1" descr="assets/icons/arrowright_white.png">    </p:cNvPr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2482596" y="3666744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70632" y="2286000"/>
            <a:ext cx="1993392" cy="3017520"/>
          </a:xfrm>
          <a:prstGeom prst="roundRect">
            <a:avLst>
              <a:gd name="adj" fmla="val 5505"/>
            </a:avLst>
          </a:prstGeom>
          <a:solidFill>
            <a:srgbClr val="1B334D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953512" y="24688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949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3346704" y="2944368"/>
            <a:ext cx="841248" cy="841248"/>
          </a:xfrm>
          <a:prstGeom prst="ellipse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14" name="Image 2" descr="assets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3154680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07792" y="395020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it up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2935224" y="438912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mistakes and remove bad rows</a:t>
            </a:r>
            <a:endParaRPr lang="en-US" sz="1150" dirty="0"/>
          </a:p>
        </p:txBody>
      </p:sp>
      <p:pic>
        <p:nvPicPr>
          <p:cNvPr id="17" name="Image 3" descr="assets/icons/arrowright_white.png">    </p:cNvPr>
          <p:cNvPicPr>
            <a:picLocks noChangeAspect="1"/>
          </p:cNvPicPr>
          <p:nvPr/>
        </p:nvPicPr>
        <p:blipFill>
          <a:blip r:embed="rId5">
            <a:alphaModFix amt="65000"/>
          </a:blip>
          <a:stretch>
            <a:fillRect/>
          </a:stretch>
        </p:blipFill>
        <p:spPr>
          <a:xfrm>
            <a:off x="4796028" y="3666744"/>
            <a:ext cx="256032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84064" y="2286000"/>
            <a:ext cx="1993392" cy="3017520"/>
          </a:xfrm>
          <a:prstGeom prst="roundRect">
            <a:avLst>
              <a:gd name="adj" fmla="val 5505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5266944" y="24688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949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Shape 14"/>
          <p:cNvSpPr/>
          <p:nvPr/>
        </p:nvSpPr>
        <p:spPr>
          <a:xfrm>
            <a:off x="5660136" y="2944368"/>
            <a:ext cx="841248" cy="841248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21" name="Image 4" descr="assets/icons/barchar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3154680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21224" y="395020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it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5248656" y="438912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each factor to see what affects leaving</a:t>
            </a:r>
            <a:endParaRPr lang="en-US" sz="1150" dirty="0"/>
          </a:p>
        </p:txBody>
      </p:sp>
      <p:pic>
        <p:nvPicPr>
          <p:cNvPr id="24" name="Image 5" descr="assets/icons/arrowright_white.png">    </p:cNvPr>
          <p:cNvPicPr>
            <a:picLocks noChangeAspect="1"/>
          </p:cNvPicPr>
          <p:nvPr/>
        </p:nvPicPr>
        <p:blipFill>
          <a:blip r:embed="rId7">
            <a:alphaModFix amt="65000"/>
          </a:blip>
          <a:stretch>
            <a:fillRect/>
          </a:stretch>
        </p:blipFill>
        <p:spPr>
          <a:xfrm>
            <a:off x="7109460" y="3666744"/>
            <a:ext cx="256032" cy="25603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97496" y="2286000"/>
            <a:ext cx="1993392" cy="3017520"/>
          </a:xfrm>
          <a:prstGeom prst="roundRect">
            <a:avLst>
              <a:gd name="adj" fmla="val 5505"/>
            </a:avLst>
          </a:prstGeom>
          <a:solidFill>
            <a:srgbClr val="1B334D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7580376" y="24688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949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Shape 19"/>
          <p:cNvSpPr/>
          <p:nvPr/>
        </p:nvSpPr>
        <p:spPr>
          <a:xfrm>
            <a:off x="7973568" y="2944368"/>
            <a:ext cx="841248" cy="841248"/>
          </a:xfrm>
          <a:prstGeom prst="ellipse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28" name="Image 6" descr="assets/icons/sliders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3154680"/>
            <a:ext cx="420624" cy="42062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34656" y="395020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clues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7562088" y="438912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hints that point to risk</a:t>
            </a:r>
            <a:endParaRPr lang="en-US" sz="1150" dirty="0"/>
          </a:p>
        </p:txBody>
      </p:sp>
      <p:pic>
        <p:nvPicPr>
          <p:cNvPr id="31" name="Image 7" descr="assets/icons/arrowright_white.png">    </p:cNvPr>
          <p:cNvPicPr>
            <a:picLocks noChangeAspect="1"/>
          </p:cNvPicPr>
          <p:nvPr/>
        </p:nvPicPr>
        <p:blipFill>
          <a:blip r:embed="rId9">
            <a:alphaModFix amt="65000"/>
          </a:blip>
          <a:stretch>
            <a:fillRect/>
          </a:stretch>
        </p:blipFill>
        <p:spPr>
          <a:xfrm>
            <a:off x="9422892" y="3666744"/>
            <a:ext cx="256032" cy="25603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710928" y="2286000"/>
            <a:ext cx="1993392" cy="3017520"/>
          </a:xfrm>
          <a:prstGeom prst="roundRect">
            <a:avLst>
              <a:gd name="adj" fmla="val 5505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33" name="Text 23"/>
          <p:cNvSpPr/>
          <p:nvPr/>
        </p:nvSpPr>
        <p:spPr>
          <a:xfrm>
            <a:off x="9893808" y="24688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949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34" name="Shape 24"/>
          <p:cNvSpPr/>
          <p:nvPr/>
        </p:nvSpPr>
        <p:spPr>
          <a:xfrm>
            <a:off x="10287000" y="2944368"/>
            <a:ext cx="841248" cy="841248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35" name="Image 8" descr="assets/icons/layers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97312" y="3154680"/>
            <a:ext cx="420624" cy="42062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848088" y="395020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it ready</a:t>
            </a:r>
            <a:endParaRPr lang="en-US" sz="1500" dirty="0"/>
          </a:p>
        </p:txBody>
      </p:sp>
      <p:sp>
        <p:nvSpPr>
          <p:cNvPr id="37" name="Text 26"/>
          <p:cNvSpPr/>
          <p:nvPr/>
        </p:nvSpPr>
        <p:spPr>
          <a:xfrm>
            <a:off x="9875520" y="438912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in a form a model can use</a:t>
            </a:r>
            <a:endParaRPr lang="en-US" sz="1150" dirty="0"/>
          </a:p>
        </p:txBody>
      </p:sp>
      <p:sp>
        <p:nvSpPr>
          <p:cNvPr id="38" name="Text 2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 ·   pandas   ·   NumPy   ·   seaborn / matplotlib   ·   scikit-learn</a:t>
            </a:r>
            <a:endParaRPr lang="en-US" sz="1200" dirty="0"/>
          </a:p>
        </p:txBody>
      </p:sp>
      <p:sp>
        <p:nvSpPr>
          <p:cNvPr id="39" name="Text 28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CLEANING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the data trustworthy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93008" cy="1225296"/>
          </a:xfrm>
          <a:prstGeom prst="roundRect">
            <a:avLst>
              <a:gd name="adj" fmla="val 8955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85416"/>
            <a:ext cx="603504" cy="603504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6" name="Image 0" descr="assets/icons/tra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" y="2336292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93976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Useless columns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45920" y="2478024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7 columns that added nothing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4407408" y="1874520"/>
            <a:ext cx="3493008" cy="1225296"/>
          </a:xfrm>
          <a:prstGeom prst="roundRect">
            <a:avLst>
              <a:gd name="adj" fmla="val 8955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185416"/>
            <a:ext cx="603504" cy="603504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11" name="Image 1" descr="assets/icons/edi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316" y="2336292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2093976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13248" y="2478024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in the blank cells sensibly</a:t>
            </a:r>
            <a:endParaRPr lang="en-US" sz="1180" dirty="0"/>
          </a:p>
        </p:txBody>
      </p:sp>
      <p:sp>
        <p:nvSpPr>
          <p:cNvPr id="14" name="Shape 10"/>
          <p:cNvSpPr/>
          <p:nvPr/>
        </p:nvSpPr>
        <p:spPr>
          <a:xfrm>
            <a:off x="8174736" y="1874520"/>
            <a:ext cx="3493008" cy="1225296"/>
          </a:xfrm>
          <a:prstGeom prst="roundRect">
            <a:avLst>
              <a:gd name="adj" fmla="val 8955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0768" y="2185416"/>
            <a:ext cx="603504" cy="603504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16" name="Image 2" descr="assets/icons/cro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1644" y="2336292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0576" y="2093976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values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180576" y="2478024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ages under 18 and extreme pay</a:t>
            </a:r>
            <a:endParaRPr lang="en-US" sz="1180" dirty="0"/>
          </a:p>
        </p:txBody>
      </p:sp>
      <p:sp>
        <p:nvSpPr>
          <p:cNvPr id="19" name="Shape 14"/>
          <p:cNvSpPr/>
          <p:nvPr/>
        </p:nvSpPr>
        <p:spPr>
          <a:xfrm>
            <a:off x="640080" y="3355848"/>
            <a:ext cx="3493008" cy="1225296"/>
          </a:xfrm>
          <a:prstGeom prst="roundRect">
            <a:avLst>
              <a:gd name="adj" fmla="val 8955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3666744"/>
            <a:ext cx="603504" cy="603504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21" name="Image 3" descr="assets/icons/ta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88" y="3817620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357530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labels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645920" y="3959352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spellings and categories consistent</a:t>
            </a:r>
            <a:endParaRPr lang="en-US" sz="1180" dirty="0"/>
          </a:p>
        </p:txBody>
      </p:sp>
      <p:sp>
        <p:nvSpPr>
          <p:cNvPr id="24" name="Shape 18"/>
          <p:cNvSpPr/>
          <p:nvPr/>
        </p:nvSpPr>
        <p:spPr>
          <a:xfrm>
            <a:off x="4407408" y="3355848"/>
            <a:ext cx="3493008" cy="1225296"/>
          </a:xfrm>
          <a:prstGeom prst="roundRect">
            <a:avLst>
              <a:gd name="adj" fmla="val 8955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3440" y="3666744"/>
            <a:ext cx="603504" cy="603504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26" name="Image 4" descr="assets/icons/aler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316" y="3817620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13248" y="357530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histories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5413248" y="3959352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64 rows that made no sense</a:t>
            </a:r>
            <a:endParaRPr lang="en-US" sz="1180" dirty="0"/>
          </a:p>
        </p:txBody>
      </p:sp>
      <p:sp>
        <p:nvSpPr>
          <p:cNvPr id="29" name="Shape 22"/>
          <p:cNvSpPr/>
          <p:nvPr/>
        </p:nvSpPr>
        <p:spPr>
          <a:xfrm>
            <a:off x="8174736" y="3355848"/>
            <a:ext cx="3493008" cy="1225296"/>
          </a:xfrm>
          <a:prstGeom prst="roundRect">
            <a:avLst>
              <a:gd name="adj" fmla="val 8955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30768" y="3666744"/>
            <a:ext cx="603504" cy="603504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31" name="Image 5" descr="assets/icons/activity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1644" y="3817620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80576" y="357530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numbers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9180576" y="3959352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Reined in 7 columns with wild values</a:t>
            </a:r>
            <a:endParaRPr lang="en-US" sz="1180" dirty="0"/>
          </a:p>
        </p:txBody>
      </p:sp>
      <p:sp>
        <p:nvSpPr>
          <p:cNvPr id="34" name="Shape 26"/>
          <p:cNvSpPr/>
          <p:nvPr/>
        </p:nvSpPr>
        <p:spPr>
          <a:xfrm>
            <a:off x="640080" y="4892040"/>
            <a:ext cx="11027664" cy="749808"/>
          </a:xfrm>
          <a:prstGeom prst="roundRect">
            <a:avLst>
              <a:gd name="adj" fmla="val 12195"/>
            </a:avLst>
          </a:prstGeom>
          <a:solidFill>
            <a:srgbClr val="2C7CB8"/>
          </a:solidFill>
          <a:ln/>
          <a:effectLst>
            <a:outerShdw sx="100000" sy="100000" kx="0" ky="0" algn="bl" rotWithShape="0" blurRad="127000" dist="38100" dir="5400000">
              <a:srgbClr val="060D18">
                <a:alpha val="4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68680" y="5038344"/>
            <a:ext cx="457200" cy="457200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36" name="Image 6" descr="assets/icons/check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980" y="5152644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63040" y="48920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pPr algn="l" indent="0" marL="0">
              <a:buNone/>
            </a:pPr>
            <a:r>
              <a:rPr lang="en-US" sz="1400" dirty="0">
                <a:solidFill>
                  <a:srgbClr val="EAF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1,406 clean, reliable records — ready to analyze.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WHAT WE FOUND  —  01 /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people are we losing?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89320" y="1965960"/>
            <a:ext cx="55321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02060D">
                <a:alpha val="50000"/>
              </a:srgbClr>
            </a:outerShdw>
          </a:effectLst>
        </p:spPr>
      </p:sp>
      <p:pic>
        <p:nvPicPr>
          <p:cNvPr id="5" name="Image 0" descr="assets/01_attrition_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2248336"/>
            <a:ext cx="5129784" cy="3458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0116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16%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85800" y="28529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the company — the rest stayed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361188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people stay than leave.</a:t>
            </a:r>
            <a:endParaRPr lang="en-US" sz="1400" dirty="0"/>
          </a:p>
          <a:p>
            <a:pPr algn="l"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compare percentages, not just totals, to keep things fair.</a:t>
            </a:r>
            <a:endParaRPr lang="en-US" sz="14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build a prediction model later, it will need to account for this gap.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WHAT WE FOUND  —  02 /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Younger employees leave more often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02060D">
                <a:alpha val="50000"/>
              </a:srgbClr>
            </a:outerShdw>
          </a:effectLst>
        </p:spPr>
      </p:sp>
      <p:pic>
        <p:nvPicPr>
          <p:cNvPr id="5" name="Image 0" descr="assets/02_age_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255547"/>
            <a:ext cx="4992624" cy="34441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37960" y="201168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 vs ~36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537960" y="285292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age — those who leave vs. those who stay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37960" y="3611880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leave are usually younger than those who stay.</a:t>
            </a:r>
            <a:endParaRPr lang="en-US" sz="14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older workers (55+) leave too — most likely early retirement.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37960" y="5029200"/>
            <a:ext cx="4983480" cy="868680"/>
          </a:xfrm>
          <a:prstGeom prst="roundRect">
            <a:avLst>
              <a:gd name="adj" fmla="val 12632"/>
            </a:avLst>
          </a:prstGeom>
          <a:solidFill>
            <a:srgbClr val="1B334D"/>
          </a:solidFill>
          <a:ln w="12700">
            <a:solidFill>
              <a:srgbClr val="2C7CB8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39128" y="5234940"/>
            <a:ext cx="457200" cy="457200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11" name="Image 1" descr="assets/icons/compas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428" y="53492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502920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 </a:t>
            </a:r>
            <a:pPr algn="l" indent="0" marL="0">
              <a:buNone/>
            </a:pPr>
            <a:r>
              <a:rPr lang="en-US" sz="128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younger employees clear ways to grow so they want to stay.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WHAT WE FOUND  —  03 /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Overtime is the biggest problem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89320" y="1965960"/>
            <a:ext cx="55321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02060D">
                <a:alpha val="50000"/>
              </a:srgbClr>
            </a:outerShdw>
          </a:effectLst>
        </p:spPr>
      </p:sp>
      <p:pic>
        <p:nvPicPr>
          <p:cNvPr id="5" name="Image 0" descr="assets/04_overt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2208236"/>
            <a:ext cx="5129784" cy="35388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0116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85800" y="28529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on overtime leave 3× as often — 30% vs 10%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361188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overtime roughly triples how many people quit.</a:t>
            </a:r>
            <a:endParaRPr lang="en-US" sz="14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strongly suggests people are burning out.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50292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1B334D"/>
          </a:solidFill>
          <a:ln w="12700">
            <a:solidFill>
              <a:srgbClr val="2C7CB8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86968" y="5234940"/>
            <a:ext cx="457200" cy="457200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11" name="Image 1" descr="assets/icons/compas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53492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502920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 </a:t>
            </a:r>
            <a:pPr algn="l" indent="0" marL="0">
              <a:buNone/>
            </a:pPr>
            <a:r>
              <a:rPr lang="en-US" sz="128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workloads, and pay and thank people for any overtime they must do.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WHAT WE FOUND  —  04 /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few jobs lose the most people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349240" y="2331720"/>
            <a:ext cx="61722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02060D">
                <a:alpha val="50000"/>
              </a:srgbClr>
            </a:outerShdw>
          </a:effectLst>
        </p:spPr>
      </p:sp>
      <p:pic>
        <p:nvPicPr>
          <p:cNvPr id="5" name="Image 0" descr="assets/05_jobro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408" y="2577088"/>
            <a:ext cx="5769864" cy="27553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011680"/>
            <a:ext cx="4160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 and Lab Technicians lose the biggest share of their people.</a:t>
            </a:r>
            <a:endParaRPr lang="en-US" sz="14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roles like Directors and Managers rarely leave.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85800" y="4892040"/>
            <a:ext cx="4160520" cy="868680"/>
          </a:xfrm>
          <a:prstGeom prst="roundRect">
            <a:avLst>
              <a:gd name="adj" fmla="val 12632"/>
            </a:avLst>
          </a:prstGeom>
          <a:solidFill>
            <a:srgbClr val="1B334D"/>
          </a:solidFill>
          <a:ln w="12700">
            <a:solidFill>
              <a:srgbClr val="2C7CB8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86968" y="5097780"/>
            <a:ext cx="457200" cy="457200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9" name="Image 1" descr="assets/icons/compas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521208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48920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 </a:t>
            </a:r>
            <a:pPr algn="l" indent="0" marL="0">
              <a:buNone/>
            </a:pPr>
            <a:r>
              <a:rPr lang="en-US" sz="128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people in these teams quit, ask them why — and act on what you hear.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WHAT WE FOUND  —  05 /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pay pushes people out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66928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02060D">
                <a:alpha val="50000"/>
              </a:srgbClr>
            </a:outerShdw>
          </a:effectLst>
        </p:spPr>
      </p:sp>
      <p:pic>
        <p:nvPicPr>
          <p:cNvPr id="5" name="Image 0" descr="assets/06_income_k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897" y="2350008"/>
            <a:ext cx="5159647" cy="32095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12280" y="20116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~$2,500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812280" y="285292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monthly pay where most leavers sit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12280" y="361188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who leave are among the lowest paid.</a:t>
            </a:r>
            <a:endParaRPr lang="en-US" sz="14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Quitting drops sharply above ~$5,000 and almost stops above ~$12,500.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12280" y="5074920"/>
            <a:ext cx="4709160" cy="868680"/>
          </a:xfrm>
          <a:prstGeom prst="roundRect">
            <a:avLst>
              <a:gd name="adj" fmla="val 12632"/>
            </a:avLst>
          </a:prstGeom>
          <a:solidFill>
            <a:srgbClr val="1B334D"/>
          </a:solidFill>
          <a:ln w="12700">
            <a:solidFill>
              <a:srgbClr val="2C7CB8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13448" y="5280660"/>
            <a:ext cx="457200" cy="457200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11" name="Image 1" descr="assets/icons/compas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748" y="539496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50749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 </a:t>
            </a:r>
            <a:pPr algn="l" indent="0" marL="0">
              <a:buNone/>
            </a:pPr>
            <a:r>
              <a:rPr lang="en-US" sz="128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lower salaries are fair compared to the job market.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WHAT WE FOUND  —  06 /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columns tell the same story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61772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02060D">
                <a:alpha val="50000"/>
              </a:srgbClr>
            </a:outerShdw>
          </a:effectLst>
        </p:spPr>
      </p:sp>
      <p:pic>
        <p:nvPicPr>
          <p:cNvPr id="5" name="Image 0" descr="assets/03_corr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78" y="2167128"/>
            <a:ext cx="4209524" cy="3758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0720" y="20116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at the company, years in the role, years with the manager and total years worked all rise together.</a:t>
            </a:r>
            <a:endParaRPr lang="en-US" sz="14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makes sense — but using them all at once would confuse a model, since they repeat the same information.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760720" y="5074920"/>
            <a:ext cx="5760720" cy="868680"/>
          </a:xfrm>
          <a:prstGeom prst="roundRect">
            <a:avLst>
              <a:gd name="adj" fmla="val 12632"/>
            </a:avLst>
          </a:prstGeom>
          <a:solidFill>
            <a:srgbClr val="1B334D"/>
          </a:solidFill>
          <a:ln w="12700">
            <a:solidFill>
              <a:srgbClr val="2C7CB8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61888" y="5280660"/>
            <a:ext cx="457200" cy="457200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9" name="Image 1" descr="assets/icons/compas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188" y="539496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7960" y="50749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 </a:t>
            </a:r>
            <a:pPr algn="l" indent="0" marL="0">
              <a:buNone/>
            </a:pPr>
            <a:r>
              <a:rPr lang="en-US" sz="128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just one of these columns, or use the new clues we built instead.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NEW WARNING SIGNS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clues to spot risk early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749808"/>
          </a:xfrm>
          <a:prstGeom prst="roundRect">
            <a:avLst>
              <a:gd name="adj" fmla="val 14634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02536"/>
            <a:ext cx="493776" cy="493776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6" name="Image 0" descr="assets/icons/doll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125980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7452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experience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074920" y="1874520"/>
            <a:ext cx="6263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compared to years worked — spots people who are underpaid for their experience.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752344"/>
            <a:ext cx="10881360" cy="749808"/>
          </a:xfrm>
          <a:prstGeom prst="roundRect">
            <a:avLst>
              <a:gd name="adj" fmla="val 14634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9536" y="2880360"/>
            <a:ext cx="493776" cy="493776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11" name="Image 1" descr="assets/icons/aw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3003804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752344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level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074920" y="2752344"/>
            <a:ext cx="6263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people into Junior, Mid or Senior by years worked.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630168"/>
            <a:ext cx="10881360" cy="749808"/>
          </a:xfrm>
          <a:prstGeom prst="roundRect">
            <a:avLst>
              <a:gd name="adj" fmla="val 14634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9536" y="3758184"/>
            <a:ext cx="493776" cy="493776"/>
          </a:xfrm>
          <a:prstGeom prst="ellipse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16" name="Image 2" descr="assets/icons/trendu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3881628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630168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since promotion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074920" y="3630168"/>
            <a:ext cx="6263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since their last promotion — a sign they may feel stuck.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4507992"/>
            <a:ext cx="10881360" cy="749808"/>
          </a:xfrm>
          <a:prstGeom prst="roundRect">
            <a:avLst>
              <a:gd name="adj" fmla="val 14634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59536" y="4636008"/>
            <a:ext cx="493776" cy="493776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21" name="Image 3" descr="assets/icons/calenda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759452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507992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Time-here groups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074920" y="4507992"/>
            <a:ext cx="6263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people by how long they’ve been here (0–1yr, 1–3yr, and so on).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40080" y="5385816"/>
            <a:ext cx="10881360" cy="749808"/>
          </a:xfrm>
          <a:prstGeom prst="roundRect">
            <a:avLst>
              <a:gd name="adj" fmla="val 14634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59536" y="5513832"/>
            <a:ext cx="493776" cy="493776"/>
          </a:xfrm>
          <a:prstGeom prst="ellipse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26" name="Image 4" descr="assets/icons/flag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" y="5637276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5385816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or below average pay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074920" y="5385816"/>
            <a:ext cx="6263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flag for whether someone earns more or less than average.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40080" y="62819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help spot at-risk employees before they decide to quit.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18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 · WHO IS MOST AT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employee most likely to leave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signs that, together, point to who’s most likely to quit.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794760" cy="3611880"/>
          </a:xfrm>
          <a:prstGeom prst="roundRect">
            <a:avLst>
              <a:gd name="adj" fmla="val 3038"/>
            </a:avLst>
          </a:prstGeom>
          <a:solidFill>
            <a:srgbClr val="16293E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0" y="2834640"/>
            <a:ext cx="1051560" cy="1051560"/>
          </a:xfrm>
          <a:prstGeom prst="ellipse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7" name="Image 0" descr="assets/icons/userx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570" y="3097530"/>
            <a:ext cx="525780" cy="5257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069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18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AT RISK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44805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· Underpaid · Overworked · New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800600" y="2542032"/>
            <a:ext cx="6720840" cy="658368"/>
          </a:xfrm>
          <a:prstGeom prst="roundRect">
            <a:avLst>
              <a:gd name="adj" fmla="val 16667"/>
            </a:avLst>
          </a:prstGeom>
          <a:solidFill>
            <a:srgbClr val="1B334D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2642616"/>
            <a:ext cx="457200" cy="457200"/>
          </a:xfrm>
          <a:prstGeom prst="ellipse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12" name="Image 1" descr="assets/icons/calend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780" y="275691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254203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818120" y="254203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30s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800600" y="3310128"/>
            <a:ext cx="6720840" cy="658368"/>
          </a:xfrm>
          <a:prstGeom prst="roundRect">
            <a:avLst>
              <a:gd name="adj" fmla="val 16667"/>
            </a:avLst>
          </a:prstGeom>
          <a:solidFill>
            <a:srgbClr val="1B334D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983480" y="3410712"/>
            <a:ext cx="457200" cy="457200"/>
          </a:xfrm>
          <a:prstGeom prst="ellipse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17" name="Image 2" descr="assets/icons/briefc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3525012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23560" y="33101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818120" y="331012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 or Lab Technician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800600" y="4078224"/>
            <a:ext cx="6720840" cy="658368"/>
          </a:xfrm>
          <a:prstGeom prst="roundRect">
            <a:avLst>
              <a:gd name="adj" fmla="val 16667"/>
            </a:avLst>
          </a:prstGeom>
          <a:solidFill>
            <a:srgbClr val="1B334D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83480" y="4178808"/>
            <a:ext cx="457200" cy="457200"/>
          </a:xfrm>
          <a:prstGeom prst="ellipse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22" name="Image 3" descr="assets/icons/dolla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7780" y="4293108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23560" y="407822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pay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818120" y="407822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$3,000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4800600" y="4846320"/>
            <a:ext cx="6720840" cy="658368"/>
          </a:xfrm>
          <a:prstGeom prst="roundRect">
            <a:avLst>
              <a:gd name="adj" fmla="val 16667"/>
            </a:avLst>
          </a:prstGeom>
          <a:solidFill>
            <a:srgbClr val="1B334D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983480" y="4946904"/>
            <a:ext cx="457200" cy="457200"/>
          </a:xfrm>
          <a:prstGeom prst="ellipse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27" name="Image 4" descr="assets/icons/clo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7780" y="5061204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623560" y="48463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7818120" y="484632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4800600" y="5614416"/>
            <a:ext cx="6720840" cy="658368"/>
          </a:xfrm>
          <a:prstGeom prst="roundRect">
            <a:avLst>
              <a:gd name="adj" fmla="val 16667"/>
            </a:avLst>
          </a:prstGeom>
          <a:solidFill>
            <a:srgbClr val="1B334D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983480" y="5715000"/>
            <a:ext cx="457200" cy="457200"/>
          </a:xfrm>
          <a:prstGeom prst="ellipse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32" name="Image 5" descr="assets/icons/activity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7780" y="5829300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623560" y="561441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here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7818120" y="561441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a year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WHAT TO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to keep more people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38528"/>
            <a:ext cx="5349240" cy="1810512"/>
          </a:xfrm>
          <a:prstGeom prst="roundRect">
            <a:avLst>
              <a:gd name="adj" fmla="val 6061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49424"/>
            <a:ext cx="786384" cy="786384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6" name="Image 0" descr="assets/icons/doll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" y="2446020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212140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949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920240" y="22585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low starting pay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50976" y="3108960"/>
            <a:ext cx="4745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junior salaries to match the market — pay is the number-one reason people leave.</a:t>
            </a:r>
            <a:endParaRPr lang="en-US" sz="1280" dirty="0"/>
          </a:p>
        </p:txBody>
      </p:sp>
      <p:sp>
        <p:nvSpPr>
          <p:cNvPr id="10" name="Shape 7"/>
          <p:cNvSpPr/>
          <p:nvPr/>
        </p:nvSpPr>
        <p:spPr>
          <a:xfrm>
            <a:off x="6309360" y="1938528"/>
            <a:ext cx="5349240" cy="1810512"/>
          </a:xfrm>
          <a:prstGeom prst="roundRect">
            <a:avLst>
              <a:gd name="adj" fmla="val 6061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01968" y="2249424"/>
            <a:ext cx="786384" cy="786384"/>
          </a:xfrm>
          <a:prstGeom prst="ellipse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12" name="Image 1" descr="assets/icons/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564" y="2446020"/>
            <a:ext cx="393192" cy="393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52760" y="212140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949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7589520" y="22585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down on overtime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6620256" y="3108960"/>
            <a:ext cx="4745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workloads and reward any needed overtime so people don’t burn out.</a:t>
            </a:r>
            <a:endParaRPr lang="en-US" sz="1280" dirty="0"/>
          </a:p>
        </p:txBody>
      </p:sp>
      <p:sp>
        <p:nvSpPr>
          <p:cNvPr id="16" name="Shape 12"/>
          <p:cNvSpPr/>
          <p:nvPr/>
        </p:nvSpPr>
        <p:spPr>
          <a:xfrm>
            <a:off x="640080" y="4041648"/>
            <a:ext cx="5349240" cy="1810512"/>
          </a:xfrm>
          <a:prstGeom prst="roundRect">
            <a:avLst>
              <a:gd name="adj" fmla="val 6061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2688" y="4352544"/>
            <a:ext cx="786384" cy="786384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18" name="Image 2" descr="assets/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" y="4549140"/>
            <a:ext cx="393192" cy="3931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83480" y="422452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949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1920240" y="43616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the hard jobs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950976" y="5212080"/>
            <a:ext cx="4745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Sales and Lab teams better tools, more help and fair targets.</a:t>
            </a:r>
            <a:endParaRPr lang="en-US" sz="1280" dirty="0"/>
          </a:p>
        </p:txBody>
      </p:sp>
      <p:sp>
        <p:nvSpPr>
          <p:cNvPr id="22" name="Shape 17"/>
          <p:cNvSpPr/>
          <p:nvPr/>
        </p:nvSpPr>
        <p:spPr>
          <a:xfrm>
            <a:off x="6309360" y="4041648"/>
            <a:ext cx="5349240" cy="1810512"/>
          </a:xfrm>
          <a:prstGeom prst="roundRect">
            <a:avLst>
              <a:gd name="adj" fmla="val 6061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01968" y="4352544"/>
            <a:ext cx="786384" cy="786384"/>
          </a:xfrm>
          <a:prstGeom prst="ellipse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24" name="Image 3" descr="assets/icons/bell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8564" y="4549140"/>
            <a:ext cx="393192" cy="3931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652760" y="422452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949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7589520" y="436168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risk early</a:t>
            </a:r>
            <a:endParaRPr lang="en-US" sz="1650" dirty="0"/>
          </a:p>
        </p:txBody>
      </p:sp>
      <p:sp>
        <p:nvSpPr>
          <p:cNvPr id="27" name="Text 21"/>
          <p:cNvSpPr/>
          <p:nvPr/>
        </p:nvSpPr>
        <p:spPr>
          <a:xfrm>
            <a:off x="6620256" y="5212080"/>
            <a:ext cx="4745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new warning signs to reach people before they decide to quit.</a:t>
            </a:r>
            <a:endParaRPr lang="en-US" sz="1280" dirty="0"/>
          </a:p>
        </p:txBody>
      </p:sp>
      <p:sp>
        <p:nvSpPr>
          <p:cNvPr id="28" name="Text 22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RESULTS &amp;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this into real results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74920" cy="3977640"/>
          </a:xfrm>
          <a:prstGeom prst="roundRect">
            <a:avLst>
              <a:gd name="adj" fmla="val 2759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786384" cy="786384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6" name="Image 0" descr="assets/icons/trenddow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" y="2482596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3957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expect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33832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overtime and raising junior pay should clearly reduce quitting among the group most at risk:</a:t>
            </a:r>
            <a:endParaRPr lang="en-US" sz="14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young, underpaid, overworked people who are still in their first year.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17220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172200" y="269748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1B334D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82512" y="2916936"/>
            <a:ext cx="475488" cy="475488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2" name="Text 9"/>
          <p:cNvSpPr/>
          <p:nvPr/>
        </p:nvSpPr>
        <p:spPr>
          <a:xfrm>
            <a:off x="6382512" y="2916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040880" y="269748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support program for new hires who are underpaid for their experience.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72200" y="3776472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1B334D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82512" y="3995928"/>
            <a:ext cx="475488" cy="47548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6" name="Text 13"/>
          <p:cNvSpPr/>
          <p:nvPr/>
        </p:nvSpPr>
        <p:spPr>
          <a:xfrm>
            <a:off x="6382512" y="3995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040880" y="3776472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many of them leave each month to see if it’s working.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172200" y="4855464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1B334D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82512" y="5074920"/>
            <a:ext cx="475488" cy="475488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20" name="Text 17"/>
          <p:cNvSpPr/>
          <p:nvPr/>
        </p:nvSpPr>
        <p:spPr>
          <a:xfrm>
            <a:off x="6382512" y="5074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040880" y="4855464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warning signs to an HR dashboard to keep watching over time.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12928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6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can keep more people.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858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make the biggest difference: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931920"/>
            <a:ext cx="749808" cy="749808"/>
          </a:xfrm>
          <a:prstGeom prst="ellipse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7" name="Image 0" descr="assets/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" y="4119372"/>
            <a:ext cx="374904" cy="374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39959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32688" y="47548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workloads to stop burnout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80560" y="361188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3931920"/>
            <a:ext cx="749808" cy="749808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12" name="Image 1" descr="assets/icons/doll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332" y="4119372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39959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pay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773168" y="47548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low salaries to be fair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321040" y="361188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6293E"/>
          </a:solidFill>
          <a:ln w="12700">
            <a:solidFill>
              <a:srgbClr val="294967"/>
            </a:solidFill>
            <a:prstDash val="solid"/>
          </a:ln>
          <a:effectLst>
            <a:outerShdw sx="100000" sy="100000" kx="0" ky="0" algn="bl" rotWithShape="0" blurRad="152400" dist="50800" dir="5400000">
              <a:srgbClr val="060D18">
                <a:alpha val="5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95360" y="3931920"/>
            <a:ext cx="749808" cy="749808"/>
          </a:xfrm>
          <a:prstGeom prst="ellipse">
            <a:avLst/>
          </a:prstGeom>
          <a:solidFill>
            <a:srgbClr val="3498DB"/>
          </a:solidFill>
          <a:ln/>
          <a:effectLst>
            <a:outerShdw sx="100000" sy="100000" kx="0" ky="0" algn="bl" rotWithShape="0" blurRad="101600" dist="25400" dir="5400000">
              <a:srgbClr val="060D18">
                <a:alpha val="35000"/>
              </a:srgbClr>
            </a:outerShdw>
          </a:effectLst>
        </p:spPr>
      </p:sp>
      <p:pic>
        <p:nvPicPr>
          <p:cNvPr id="17" name="Image 2" descr="assets/icons/activit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2812" y="4119372"/>
            <a:ext cx="374904" cy="374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555480" y="39959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year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613648" y="47548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A9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new hires closely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5806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FB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68580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9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Employees Leave   ·   Based on IBM HR data   ·   Built with Python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2026-07-21T20:00:31Z</dcterms:created>
  <dcterms:modified xsi:type="dcterms:W3CDTF">2026-07-21T20:00:31Z</dcterms:modified>
</cp:coreProperties>
</file>